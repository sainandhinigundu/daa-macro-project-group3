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63bea2d-7828-8af3-b4c9-c1417475096b}">
          <p14:sldIdLst>
            <p14:sldId id="256"/>
            <p14:sldId id="257"/>
          </p14:sldIdLst>
        </p14:section>
        <p14:section name="UNIT I" id="{6091586d-da6f-2294-c472-af2bbaf7cb02}">
          <p14:sldIdLst>
            <p14:sldId id="258"/>
            <p14:sldId id="259"/>
          </p14:sldIdLst>
        </p14:section>
        <p14:section name="UNIT II" id="{1ffea883-bee0-ea93-e4c0-47ec1bbaacbc}">
          <p14:sldIdLst>
            <p14:sldId id="260"/>
            <p14:sldId id="261"/>
          </p14:sldIdLst>
        </p14:section>
        <p14:section name="UNIT III" id="{89a190de-1946-ced6-1fb6-2e05e3cb7a17}">
          <p14:sldIdLst>
            <p14:sldId id="262"/>
            <p14:sldId id="263"/>
          </p14:sldIdLst>
        </p14:section>
        <p14:section name="UNIT IV" id="{90599cf1-67c2-29b6-a6bd-08e0632a3f67}">
          <p14:sldIdLst>
            <p14:sldId id="264"/>
            <p14:sldId id="265"/>
          </p14:sldIdLst>
        </p14:section>
        <p14:section name="UNIT V" id="{df59770a-45f0-4848-4171-d29fc8f0eb9a}">
          <p14:sldIdLst>
            <p14:sldId id="266"/>
            <p14:sldId id="267"/>
          </p14:sldIdLst>
        </p14:section>
        <p14:section name="Summary" id="{931b8567-ee8d-c8d3-01c4-63ba4fdf3f7b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CFE0F1"/>
                </a:solidFill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36576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0"/>
                </a:solidFill>
              </a:rPr>
              <a:t>DAA Macro Project  |  Design and Analysis of Algorithms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9144000" cy="3657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FE0F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DAA Macro Project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0F1"/>
                </a:solidFill>
              </a:rPr>
              <a:t>Design and Analysis of Algorithms</a:t>
            </a:r>
            <a:endParaRPr lang="en-US" sz="20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Five units  •  Five algorithms  •  Five visualizations</a:t>
            </a:r>
            <a:endParaRPr lang="en-US" sz="1400" dirty="0"/>
          </a:p>
        </p:txBody>
      </p:sp>
      <p:sp>
        <p:nvSpPr>
          <p:cNvPr id="5" name="Subline"/>
          <p:cNvSpPr txBox="1"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0F1"/>
                </a:solidFill>
              </a:rPr>
              <a:t>Group 3   |   B.Tech CSE   |   Growth Analysis · Greedy · Dynamic Programming · Backtracking · Branch and Bound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Project Overview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One project per unit</a:t>
            </a:r>
            <a:endParaRPr lang="en-US" sz="1000" dirty="0"/>
          </a:p>
        </p:txBody>
      </p:sp>
      <p:graphicFrame>
        <p:nvGraphicFramePr>
          <p:cNvPr id="3" name="Overview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80160"/>
                <a:gridCol w="35661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Unit 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Asymptotic Growth Comparison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Asymptotic analysis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Unit II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Optimal Merge Pattern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Unit III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Knapsack DP Table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Dynamic programming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</a:rPr>
                        <a:t>Unit IV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Graph Coloring Backtracking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Backtracking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Unit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Project 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Knapsack Branch and Bound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Branch and bound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4A0"/>
                </a:solidFill>
              </a:rPr>
              <a:t>Each project includes: AI visualization prompt  •  generated visualization  •  pseudocode  •  verified result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 – Asymptotic Growth Comparison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Project 3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274320" y="640080"/>
            <a:ext cx="42062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accent"/>
          <p:cNvSpPr/>
          <p:nvPr/>
        </p:nvSpPr>
        <p:spPr>
          <a:xfrm>
            <a:off x="274320" y="640080"/>
            <a:ext cx="54864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blem label"/>
          <p:cNvSpPr txBox="1"/>
          <p:nvPr/>
        </p:nvSpPr>
        <p:spPr>
          <a:xfrm>
            <a:off x="438912" y="694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38912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Compare Big-O, Omega and Theta notations and the growth of common functions, using example algorithms.</a:t>
            </a:r>
            <a:endParaRPr lang="en-US" sz="1150" dirty="0"/>
          </a:p>
        </p:txBody>
      </p:sp>
      <p:sp>
        <p:nvSpPr>
          <p:cNvPr id="9" name="Key idea card"/>
          <p:cNvSpPr/>
          <p:nvPr/>
        </p:nvSpPr>
        <p:spPr>
          <a:xfrm>
            <a:off x="274320" y="1645920"/>
            <a:ext cx="420624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y idea accent"/>
          <p:cNvSpPr/>
          <p:nvPr/>
        </p:nvSpPr>
        <p:spPr>
          <a:xfrm>
            <a:off x="274320" y="1645920"/>
            <a:ext cx="54864" cy="24688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Key idea label"/>
          <p:cNvSpPr txBox="1"/>
          <p:nvPr/>
        </p:nvSpPr>
        <p:spPr>
          <a:xfrm>
            <a:off x="43891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12" name="Key idea text"/>
          <p:cNvSpPr txBox="1"/>
          <p:nvPr/>
        </p:nvSpPr>
        <p:spPr>
          <a:xfrm>
            <a:off x="438912" y="193852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O: upper bound, f(n) ≤ c·g(n)  (worst case)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Ω: lower bound, f(n) ≥ c·g(n)  (best case)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Θ: tight bound = O and Ω together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Linear search O(n), Ω(1); insertion sort O(n²), Ω(n); merge sort Θ(n log n)</a:t>
            </a:r>
            <a:endParaRPr lang="en-US" sz="1150" dirty="0"/>
          </a:p>
        </p:txBody>
      </p:sp>
      <p:sp>
        <p:nvSpPr>
          <p:cNvPr id="13" name="Pseudocode card"/>
          <p:cNvSpPr/>
          <p:nvPr/>
        </p:nvSpPr>
        <p:spPr>
          <a:xfrm>
            <a:off x="4617720" y="640080"/>
            <a:ext cx="4251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seudocode accent"/>
          <p:cNvSpPr/>
          <p:nvPr/>
        </p:nvSpPr>
        <p:spPr>
          <a:xfrm>
            <a:off x="4617720" y="640080"/>
            <a:ext cx="54864" cy="3474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seudocode label"/>
          <p:cNvSpPr txBox="1"/>
          <p:nvPr/>
        </p:nvSpPr>
        <p:spPr>
          <a:xfrm>
            <a:off x="4782312" y="694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Pseudocode</a:t>
            </a:r>
            <a:endParaRPr lang="en-US" sz="1200" dirty="0"/>
          </a:p>
        </p:txBody>
      </p:sp>
      <p:sp>
        <p:nvSpPr>
          <p:cNvPr id="16" name="Pseudocode text"/>
          <p:cNvSpPr txBox="1"/>
          <p:nvPr/>
        </p:nvSpPr>
        <p:spPr>
          <a:xfrm>
            <a:off x="4782312" y="96012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ALGORITHM CompareGrowth(algorithms)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each algorithm A: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O ← worst-case bound of A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Ω ← best-case bound of A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O and Ω have the same order: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Θ ← that order   (tight bound)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n ← 1 to 20: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plot 1, log n, n, n log n, n², 2ⁿ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rank the functions by growth rate</a:t>
            </a:r>
            <a:endParaRPr lang="en-US" sz="1150" dirty="0"/>
          </a:p>
        </p:txBody>
      </p:sp>
      <p:sp>
        <p:nvSpPr>
          <p:cNvPr id="17" name="Result bar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Result text"/>
          <p:cNvSpPr txBox="1"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Growth order:  1 &lt; log n &lt; n &lt; n log n &lt; n² &lt; 2ⁿ     |     at n = 20:  n² = 400  vs  2ⁿ = 1,048,576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 – Visualization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Asymptotic Growth Comparison</a:t>
            </a:r>
            <a:endParaRPr lang="en-US" sz="1000" dirty="0"/>
          </a:p>
        </p:txBody>
      </p:sp>
      <p:pic>
        <p:nvPicPr>
          <p:cNvPr id="5" name="Image 0" descr="Visualization: Asymptotic Growth Compar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94638"/>
            <a:ext cx="6263640" cy="2714244"/>
          </a:xfrm>
          <a:prstGeom prst="rect">
            <a:avLst/>
          </a:prstGeom>
        </p:spPr>
      </p:pic>
      <p:sp>
        <p:nvSpPr>
          <p:cNvPr id="6" name="What to notice card"/>
          <p:cNvSpPr/>
          <p:nvPr/>
        </p:nvSpPr>
        <p:spPr>
          <a:xfrm>
            <a:off x="6675120" y="640080"/>
            <a:ext cx="2194560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at to notice accent"/>
          <p:cNvSpPr/>
          <p:nvPr/>
        </p:nvSpPr>
        <p:spPr>
          <a:xfrm>
            <a:off x="6675120" y="640080"/>
            <a:ext cx="54864" cy="4023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What to notice label"/>
          <p:cNvSpPr txBox="1"/>
          <p:nvPr/>
        </p:nvSpPr>
        <p:spPr>
          <a:xfrm>
            <a:off x="6839712" y="694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to notice</a:t>
            </a:r>
            <a:endParaRPr lang="en-US" sz="1200" dirty="0"/>
          </a:p>
        </p:txBody>
      </p:sp>
      <p:sp>
        <p:nvSpPr>
          <p:cNvPr id="9" name="Notice text"/>
          <p:cNvSpPr txBox="1"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Left: concept map linking O, Ω, Θ to example algorithms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Right: six growth curves on the same axes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2ⁿ leaves every polynomial far behind by n = 20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Θ(g) needs both O(g) and Ω(g)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II – Optimal Merge Pattern Tree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Project 6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274320" y="640080"/>
            <a:ext cx="42062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accent"/>
          <p:cNvSpPr/>
          <p:nvPr/>
        </p:nvSpPr>
        <p:spPr>
          <a:xfrm>
            <a:off x="274320" y="640080"/>
            <a:ext cx="54864" cy="9144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Problem label"/>
          <p:cNvSpPr txBox="1"/>
          <p:nvPr/>
        </p:nvSpPr>
        <p:spPr>
          <a:xfrm>
            <a:off x="438912" y="694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38912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Merge files of sizes 10, 20, 30, 40 into one file with the minimum total merge cost.</a:t>
            </a:r>
            <a:endParaRPr lang="en-US" sz="1150" dirty="0"/>
          </a:p>
        </p:txBody>
      </p:sp>
      <p:sp>
        <p:nvSpPr>
          <p:cNvPr id="9" name="Key idea card"/>
          <p:cNvSpPr/>
          <p:nvPr/>
        </p:nvSpPr>
        <p:spPr>
          <a:xfrm>
            <a:off x="274320" y="1645920"/>
            <a:ext cx="420624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y idea accent"/>
          <p:cNvSpPr/>
          <p:nvPr/>
        </p:nvSpPr>
        <p:spPr>
          <a:xfrm>
            <a:off x="274320" y="1645920"/>
            <a:ext cx="54864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Key idea label"/>
          <p:cNvSpPr txBox="1"/>
          <p:nvPr/>
        </p:nvSpPr>
        <p:spPr>
          <a:xfrm>
            <a:off x="43891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Key idea</a:t>
            </a:r>
            <a:endParaRPr lang="en-US" sz="1200" dirty="0"/>
          </a:p>
        </p:txBody>
      </p:sp>
      <p:sp>
        <p:nvSpPr>
          <p:cNvPr id="12" name="Key idea text"/>
          <p:cNvSpPr txBox="1"/>
          <p:nvPr/>
        </p:nvSpPr>
        <p:spPr>
          <a:xfrm>
            <a:off x="438912" y="193852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Greedy rule: always merge the two smallest files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Each merge creates an internal node of a binary tree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Cost of a merge = size of the merged file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Same idea as Huffman coding; ties give equal cost</a:t>
            </a:r>
            <a:endParaRPr lang="en-US" sz="1150" dirty="0"/>
          </a:p>
        </p:txBody>
      </p:sp>
      <p:sp>
        <p:nvSpPr>
          <p:cNvPr id="13" name="Pseudocode card"/>
          <p:cNvSpPr/>
          <p:nvPr/>
        </p:nvSpPr>
        <p:spPr>
          <a:xfrm>
            <a:off x="4617720" y="640080"/>
            <a:ext cx="4251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seudocode accent"/>
          <p:cNvSpPr/>
          <p:nvPr/>
        </p:nvSpPr>
        <p:spPr>
          <a:xfrm>
            <a:off x="4617720" y="640080"/>
            <a:ext cx="54864" cy="3474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Pseudocode label"/>
          <p:cNvSpPr txBox="1"/>
          <p:nvPr/>
        </p:nvSpPr>
        <p:spPr>
          <a:xfrm>
            <a:off x="4782312" y="694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Pseudocode</a:t>
            </a:r>
            <a:endParaRPr lang="en-US" sz="1200" dirty="0"/>
          </a:p>
        </p:txBody>
      </p:sp>
      <p:sp>
        <p:nvSpPr>
          <p:cNvPr id="16" name="Pseudocode text"/>
          <p:cNvSpPr txBox="1"/>
          <p:nvPr/>
        </p:nvSpPr>
        <p:spPr>
          <a:xfrm>
            <a:off x="4782312" y="96012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ALGORITHM OptimalMerge(sizes[1..n])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H ← min-heap of sizes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cost ← 0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while |H| &gt; 1: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a ← EXTRACT-MIN(H)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b ← EXTRACT-MIN(H)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INSERT(H, a + b)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cost ← cost + a + b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return cost</a:t>
            </a:r>
            <a:endParaRPr lang="en-US" sz="1150" dirty="0"/>
          </a:p>
        </p:txBody>
      </p:sp>
      <p:sp>
        <p:nvSpPr>
          <p:cNvPr id="17" name="Result bar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Result text"/>
          <p:cNvSpPr txBox="1"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Merges: 10+20 = 30,  30+30 = 60,  40+60 = 100     |     Total cost = 30 + 60 + 100 = 190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II – Visualization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Optimal Merge Pattern Tree</a:t>
            </a:r>
            <a:endParaRPr lang="en-US" sz="1000" dirty="0"/>
          </a:p>
        </p:txBody>
      </p:sp>
      <p:pic>
        <p:nvPicPr>
          <p:cNvPr id="5" name="Image 0" descr="Visualization: Optimal Merge Pattern Tr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1263"/>
            <a:ext cx="6263640" cy="2960993"/>
          </a:xfrm>
          <a:prstGeom prst="rect">
            <a:avLst/>
          </a:prstGeom>
        </p:spPr>
      </p:pic>
      <p:sp>
        <p:nvSpPr>
          <p:cNvPr id="6" name="What to notice card"/>
          <p:cNvSpPr/>
          <p:nvPr/>
        </p:nvSpPr>
        <p:spPr>
          <a:xfrm>
            <a:off x="6675120" y="640080"/>
            <a:ext cx="2194560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at to notice accent"/>
          <p:cNvSpPr/>
          <p:nvPr/>
        </p:nvSpPr>
        <p:spPr>
          <a:xfrm>
            <a:off x="6675120" y="640080"/>
            <a:ext cx="54864" cy="4023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What to notice label"/>
          <p:cNvSpPr txBox="1"/>
          <p:nvPr/>
        </p:nvSpPr>
        <p:spPr>
          <a:xfrm>
            <a:off x="6839712" y="694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What to notice</a:t>
            </a:r>
            <a:endParaRPr lang="en-US" sz="1200" dirty="0"/>
          </a:p>
        </p:txBody>
      </p:sp>
      <p:sp>
        <p:nvSpPr>
          <p:cNvPr id="9" name="Notice text"/>
          <p:cNvSpPr txBox="1"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Green leaves = original files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Blue nodes = merged files, built bottom-up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Root 100 = final file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Small files sit deepest, so they are re-merged most often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III – Knapsack DP Table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Project 9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274320" y="640080"/>
            <a:ext cx="42062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accent"/>
          <p:cNvSpPr/>
          <p:nvPr/>
        </p:nvSpPr>
        <p:spPr>
          <a:xfrm>
            <a:off x="274320" y="640080"/>
            <a:ext cx="54864" cy="9144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Problem label"/>
          <p:cNvSpPr txBox="1"/>
          <p:nvPr/>
        </p:nvSpPr>
        <p:spPr>
          <a:xfrm>
            <a:off x="438912" y="694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38912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0/1 Knapsack: 4 items, weights [5, 4, 6, 3], values [10, 40, 30, 50], capacity 10.</a:t>
            </a:r>
            <a:endParaRPr lang="en-US" sz="1150" dirty="0"/>
          </a:p>
        </p:txBody>
      </p:sp>
      <p:sp>
        <p:nvSpPr>
          <p:cNvPr id="9" name="Key idea card"/>
          <p:cNvSpPr/>
          <p:nvPr/>
        </p:nvSpPr>
        <p:spPr>
          <a:xfrm>
            <a:off x="274320" y="1645920"/>
            <a:ext cx="420624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y idea accent"/>
          <p:cNvSpPr/>
          <p:nvPr/>
        </p:nvSpPr>
        <p:spPr>
          <a:xfrm>
            <a:off x="274320" y="1645920"/>
            <a:ext cx="54864" cy="2468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Key idea label"/>
          <p:cNvSpPr txBox="1"/>
          <p:nvPr/>
        </p:nvSpPr>
        <p:spPr>
          <a:xfrm>
            <a:off x="43891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12" name="Key idea text"/>
          <p:cNvSpPr txBox="1"/>
          <p:nvPr/>
        </p:nvSpPr>
        <p:spPr>
          <a:xfrm>
            <a:off x="438912" y="193852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State dp[i][c]: best value using first i items, capacity c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Choice: skip item i, or take it and use w[i] capacity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Item i is included exactly when dp[i][c] ≠ dp[i-1][c]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Table has (n+1) × (W+1) cells</a:t>
            </a:r>
            <a:endParaRPr lang="en-US" sz="1150" dirty="0"/>
          </a:p>
        </p:txBody>
      </p:sp>
      <p:sp>
        <p:nvSpPr>
          <p:cNvPr id="13" name="Pseudocode card"/>
          <p:cNvSpPr/>
          <p:nvPr/>
        </p:nvSpPr>
        <p:spPr>
          <a:xfrm>
            <a:off x="4617720" y="640080"/>
            <a:ext cx="4251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seudocode accent"/>
          <p:cNvSpPr/>
          <p:nvPr/>
        </p:nvSpPr>
        <p:spPr>
          <a:xfrm>
            <a:off x="4617720" y="640080"/>
            <a:ext cx="54864" cy="3474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Pseudocode label"/>
          <p:cNvSpPr txBox="1"/>
          <p:nvPr/>
        </p:nvSpPr>
        <p:spPr>
          <a:xfrm>
            <a:off x="4782312" y="694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Pseudocode</a:t>
            </a:r>
            <a:endParaRPr lang="en-US" sz="1200" dirty="0"/>
          </a:p>
        </p:txBody>
      </p:sp>
      <p:sp>
        <p:nvSpPr>
          <p:cNvPr id="16" name="Pseudocode text"/>
          <p:cNvSpPr txBox="1"/>
          <p:nvPr/>
        </p:nvSpPr>
        <p:spPr>
          <a:xfrm>
            <a:off x="4782312" y="96012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ALGORITHM Knapsack01(w[], v[], n, W)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c ← 0 to W:  dp[0][c] ← 0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i ← 1 to n: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c ← 0 to W: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dp[i][c] ← dp[i−1][c]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w[i] ≤ c:</a:t>
            </a:r>
            <a:endParaRPr lang="en-US" sz="1150" dirty="0"/>
          </a:p>
          <a:p>
            <a:pPr marL="6858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take ← v[i] + dp[i−1][c − w[i]]</a:t>
            </a:r>
            <a:endParaRPr lang="en-US" sz="1150" dirty="0"/>
          </a:p>
          <a:p>
            <a:pPr marL="6858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dp[i][c] ← max(dp[i][c], take)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 ← W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i ← n down to 1: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dp[i][c] ≠ dp[i−1][c]: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take item i;  c ← c − w[i]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return dp[n][W]</a:t>
            </a:r>
            <a:endParaRPr lang="en-US" sz="1150" dirty="0"/>
          </a:p>
        </p:txBody>
      </p:sp>
      <p:sp>
        <p:nvSpPr>
          <p:cNvPr id="17" name="Result bar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Result text"/>
          <p:cNvSpPr txBox="1"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Maximum value = 90     |     Items 2 and 4 chosen   (weight 4 + 3 = 7 ≤ 10)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III – Visualization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Knapsack DP Table</a:t>
            </a:r>
            <a:endParaRPr lang="en-US" sz="1000" dirty="0"/>
          </a:p>
        </p:txBody>
      </p:sp>
      <p:pic>
        <p:nvPicPr>
          <p:cNvPr id="5" name="Image 0" descr="Visualization: Knapsack DP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1263"/>
            <a:ext cx="6263640" cy="2960993"/>
          </a:xfrm>
          <a:prstGeom prst="rect">
            <a:avLst/>
          </a:prstGeom>
        </p:spPr>
      </p:pic>
      <p:sp>
        <p:nvSpPr>
          <p:cNvPr id="6" name="What to notice card"/>
          <p:cNvSpPr/>
          <p:nvPr/>
        </p:nvSpPr>
        <p:spPr>
          <a:xfrm>
            <a:off x="6675120" y="640080"/>
            <a:ext cx="2194560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at to notice accent"/>
          <p:cNvSpPr/>
          <p:nvPr/>
        </p:nvSpPr>
        <p:spPr>
          <a:xfrm>
            <a:off x="6675120" y="640080"/>
            <a:ext cx="54864" cy="4023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What to notice label"/>
          <p:cNvSpPr txBox="1"/>
          <p:nvPr/>
        </p:nvSpPr>
        <p:spPr>
          <a:xfrm>
            <a:off x="6839712" y="694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What to notice</a:t>
            </a:r>
            <a:endParaRPr lang="en-US" sz="1200" dirty="0"/>
          </a:p>
        </p:txBody>
      </p:sp>
      <p:sp>
        <p:nvSpPr>
          <p:cNvPr id="9" name="Notice text"/>
          <p:cNvSpPr txBox="1"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Each cell = best value for that item set and capacity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Green cells: the value changed, so the item was included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Gold cells: traceback path from dp[4][10]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dp[4][10] = 90 is the answer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IV – Graph Coloring Backtracking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Project 12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274320" y="640080"/>
            <a:ext cx="42062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accent"/>
          <p:cNvSpPr/>
          <p:nvPr/>
        </p:nvSpPr>
        <p:spPr>
          <a:xfrm>
            <a:off x="274320" y="640080"/>
            <a:ext cx="54864" cy="9144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Problem label"/>
          <p:cNvSpPr txBox="1"/>
          <p:nvPr/>
        </p:nvSpPr>
        <p:spPr>
          <a:xfrm>
            <a:off x="438912" y="694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38912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Colour a 4-vertex graph (edges 1-2, 1-3, 2-3, 2-4, 3-4) with 3 colours so that no edge joins equal colours.</a:t>
            </a:r>
            <a:endParaRPr lang="en-US" sz="1150" dirty="0"/>
          </a:p>
        </p:txBody>
      </p:sp>
      <p:sp>
        <p:nvSpPr>
          <p:cNvPr id="9" name="Key idea card"/>
          <p:cNvSpPr/>
          <p:nvPr/>
        </p:nvSpPr>
        <p:spPr>
          <a:xfrm>
            <a:off x="274320" y="1645920"/>
            <a:ext cx="420624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y idea accent"/>
          <p:cNvSpPr/>
          <p:nvPr/>
        </p:nvSpPr>
        <p:spPr>
          <a:xfrm>
            <a:off x="274320" y="1645920"/>
            <a:ext cx="54864" cy="2468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Key idea label"/>
          <p:cNvSpPr txBox="1"/>
          <p:nvPr/>
        </p:nvSpPr>
        <p:spPr>
          <a:xfrm>
            <a:off x="43891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Key idea</a:t>
            </a:r>
            <a:endParaRPr lang="en-US" sz="1200" dirty="0"/>
          </a:p>
        </p:txBody>
      </p:sp>
      <p:sp>
        <p:nvSpPr>
          <p:cNvPr id="12" name="Key idea text"/>
          <p:cNvSpPr txBox="1"/>
          <p:nvPr/>
        </p:nvSpPr>
        <p:spPr>
          <a:xfrm>
            <a:off x="438912" y="193852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Colour vertices one at a time in order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Safe = no adjacent vertex already uses that colour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Conflict → try the next colour (prune that branch)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All 3 colours fail → backtrack and change the earlier vertex</a:t>
            </a:r>
            <a:endParaRPr lang="en-US" sz="1150" dirty="0"/>
          </a:p>
        </p:txBody>
      </p:sp>
      <p:sp>
        <p:nvSpPr>
          <p:cNvPr id="13" name="Pseudocode card"/>
          <p:cNvSpPr/>
          <p:nvPr/>
        </p:nvSpPr>
        <p:spPr>
          <a:xfrm>
            <a:off x="4617720" y="640080"/>
            <a:ext cx="4251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seudocode accent"/>
          <p:cNvSpPr/>
          <p:nvPr/>
        </p:nvSpPr>
        <p:spPr>
          <a:xfrm>
            <a:off x="4617720" y="640080"/>
            <a:ext cx="54864" cy="3474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seudocode label"/>
          <p:cNvSpPr txBox="1"/>
          <p:nvPr/>
        </p:nvSpPr>
        <p:spPr>
          <a:xfrm>
            <a:off x="4782312" y="694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Pseudocode</a:t>
            </a:r>
            <a:endParaRPr lang="en-US" sz="1200" dirty="0"/>
          </a:p>
        </p:txBody>
      </p:sp>
      <p:sp>
        <p:nvSpPr>
          <p:cNvPr id="16" name="Pseudocode text"/>
          <p:cNvSpPr txBox="1"/>
          <p:nvPr/>
        </p:nvSpPr>
        <p:spPr>
          <a:xfrm>
            <a:off x="4782312" y="96012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ALGORITHM GraphColoring(k)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each colour c in {R, G, B}: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IS-SAFE(k, c):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color[k] ← c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k = n:  record solution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else:  GraphColoring(k + 1)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color[k] ← none   (undo)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return   (backtrack)</a:t>
            </a:r>
            <a:endParaRPr lang="en-US" sz="1150" dirty="0"/>
          </a:p>
          <a:p>
            <a:pPr marL="0" indent="0">
              <a:spcBef>
                <a:spcPts val="700"/>
              </a:spcBef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IS-SAFE(k, c)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each neighbour u of k: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color[u] = c:  return false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return true</a:t>
            </a:r>
            <a:endParaRPr lang="en-US" sz="1150" dirty="0"/>
          </a:p>
        </p:txBody>
      </p:sp>
      <p:sp>
        <p:nvSpPr>
          <p:cNvPr id="17" name="Result bar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Result text"/>
          <p:cNvSpPr txBox="1"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2 solutions with v1 = R:  R-G-B-R and R-B-G-R     |     15 colour tries, 9 pruned (vs 3⁴ = 81)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IV – Visualization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Graph Coloring Backtracking</a:t>
            </a:r>
            <a:endParaRPr lang="en-US" sz="1000" dirty="0"/>
          </a:p>
        </p:txBody>
      </p:sp>
      <p:pic>
        <p:nvPicPr>
          <p:cNvPr id="5" name="Image 0" descr="Visualization: Graph Coloring Backtrack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2441"/>
            <a:ext cx="6263640" cy="2818638"/>
          </a:xfrm>
          <a:prstGeom prst="rect">
            <a:avLst/>
          </a:prstGeom>
        </p:spPr>
      </p:pic>
      <p:sp>
        <p:nvSpPr>
          <p:cNvPr id="6" name="What to notice card"/>
          <p:cNvSpPr/>
          <p:nvPr/>
        </p:nvSpPr>
        <p:spPr>
          <a:xfrm>
            <a:off x="6675120" y="640080"/>
            <a:ext cx="2194560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at to notice accent"/>
          <p:cNvSpPr/>
          <p:nvPr/>
        </p:nvSpPr>
        <p:spPr>
          <a:xfrm>
            <a:off x="6675120" y="640080"/>
            <a:ext cx="54864" cy="40233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What to notice label"/>
          <p:cNvSpPr txBox="1"/>
          <p:nvPr/>
        </p:nvSpPr>
        <p:spPr>
          <a:xfrm>
            <a:off x="6839712" y="694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What to notice</a:t>
            </a:r>
            <a:endParaRPr lang="en-US" sz="1200" dirty="0"/>
          </a:p>
        </p:txBody>
      </p:sp>
      <p:sp>
        <p:nvSpPr>
          <p:cNvPr id="9" name="Notice text"/>
          <p:cNvSpPr txBox="1"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Left: the flowchart of the algorithm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Right: state-space tree, red ✗ = conflict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Dead end at v3 = R / G forces a change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Yellow ✓ = complete valid colouring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V – Knapsack Branch and Bound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Project 13</a:t>
            </a:r>
            <a:endParaRPr lang="en-US" sz="1000" dirty="0"/>
          </a:p>
        </p:txBody>
      </p:sp>
      <p:sp>
        <p:nvSpPr>
          <p:cNvPr id="5" name="Problem card"/>
          <p:cNvSpPr/>
          <p:nvPr/>
        </p:nvSpPr>
        <p:spPr>
          <a:xfrm>
            <a:off x="274320" y="640080"/>
            <a:ext cx="420624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accent"/>
          <p:cNvSpPr/>
          <p:nvPr/>
        </p:nvSpPr>
        <p:spPr>
          <a:xfrm>
            <a:off x="274320" y="640080"/>
            <a:ext cx="54864" cy="9144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Problem label"/>
          <p:cNvSpPr txBox="1"/>
          <p:nvPr/>
        </p:nvSpPr>
        <p:spPr>
          <a:xfrm>
            <a:off x="438912" y="694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Problem text"/>
          <p:cNvSpPr txBox="1"/>
          <p:nvPr/>
        </p:nvSpPr>
        <p:spPr>
          <a:xfrm>
            <a:off x="438912" y="914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0/1 Knapsack by Branch and Bound. Weights [4, 7, 5, 3], values [40, 42, 25, 12], capacity 10.</a:t>
            </a:r>
            <a:endParaRPr lang="en-US" sz="1150" dirty="0"/>
          </a:p>
        </p:txBody>
      </p:sp>
      <p:sp>
        <p:nvSpPr>
          <p:cNvPr id="9" name="Key idea card"/>
          <p:cNvSpPr/>
          <p:nvPr/>
        </p:nvSpPr>
        <p:spPr>
          <a:xfrm>
            <a:off x="274320" y="1645920"/>
            <a:ext cx="420624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Key idea accent"/>
          <p:cNvSpPr/>
          <p:nvPr/>
        </p:nvSpPr>
        <p:spPr>
          <a:xfrm>
            <a:off x="274320" y="1645920"/>
            <a:ext cx="54864" cy="24688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Key idea label"/>
          <p:cNvSpPr txBox="1"/>
          <p:nvPr/>
        </p:nvSpPr>
        <p:spPr>
          <a:xfrm>
            <a:off x="438912" y="1700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Key idea</a:t>
            </a:r>
            <a:endParaRPr lang="en-US" sz="1200" dirty="0"/>
          </a:p>
        </p:txBody>
      </p:sp>
      <p:sp>
        <p:nvSpPr>
          <p:cNvPr id="12" name="Key idea text"/>
          <p:cNvSpPr txBox="1"/>
          <p:nvPr/>
        </p:nvSpPr>
        <p:spPr>
          <a:xfrm>
            <a:off x="438912" y="1938528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Node = (level, weight, value, upper bound)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Bound = fractional-knapsack fill of the remaining capacity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Branch: include or exclude the next item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Prune if weight &gt; W or upper bound ≤ best value found</a:t>
            </a:r>
            <a:endParaRPr lang="en-US" sz="1150" dirty="0"/>
          </a:p>
        </p:txBody>
      </p:sp>
      <p:sp>
        <p:nvSpPr>
          <p:cNvPr id="13" name="Pseudocode card"/>
          <p:cNvSpPr/>
          <p:nvPr/>
        </p:nvSpPr>
        <p:spPr>
          <a:xfrm>
            <a:off x="4617720" y="640080"/>
            <a:ext cx="4251960" cy="3474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seudocode accent"/>
          <p:cNvSpPr/>
          <p:nvPr/>
        </p:nvSpPr>
        <p:spPr>
          <a:xfrm>
            <a:off x="4617720" y="640080"/>
            <a:ext cx="54864" cy="34747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seudocode label"/>
          <p:cNvSpPr txBox="1"/>
          <p:nvPr/>
        </p:nvSpPr>
        <p:spPr>
          <a:xfrm>
            <a:off x="4782312" y="694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Pseudocode</a:t>
            </a:r>
            <a:endParaRPr lang="en-US" sz="1200" dirty="0"/>
          </a:p>
        </p:txBody>
      </p:sp>
      <p:sp>
        <p:nvSpPr>
          <p:cNvPr id="16" name="Pseudocode text"/>
          <p:cNvSpPr txBox="1"/>
          <p:nvPr/>
        </p:nvSpPr>
        <p:spPr>
          <a:xfrm>
            <a:off x="4782312" y="960120"/>
            <a:ext cx="4023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ALGORITHM KnapsackBB(w[], v[], n, W)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best ← 0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EXPLORE(root)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EXPLORE(u)</a:t>
            </a:r>
            <a:endParaRPr lang="en-US" sz="1150" dirty="0"/>
          </a:p>
          <a:p>
            <a:pPr marL="1714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for choice in {include, exclude}: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child ← next-level node (weight, value)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child.weight &gt; W:  prune</a:t>
            </a:r>
            <a:endParaRPr lang="en-US" sz="1150" dirty="0"/>
          </a:p>
          <a:p>
            <a:pPr marL="3429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else: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ub ← BOUND(child)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if ub ≤ best:  prune</a:t>
            </a:r>
            <a:endParaRPr lang="en-US" sz="1150" dirty="0"/>
          </a:p>
          <a:p>
            <a:pPr marL="51435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else:</a:t>
            </a:r>
            <a:endParaRPr lang="en-US" sz="1150" dirty="0"/>
          </a:p>
          <a:p>
            <a:pPr marL="6858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best ← max(best, child.value)</a:t>
            </a:r>
            <a:endParaRPr lang="en-US" sz="1150" dirty="0"/>
          </a:p>
          <a:p>
            <a:pPr marL="68580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 xml:space="preserve">EXPLORE(child)</a:t>
            </a:r>
            <a:endParaRPr lang="en-US" sz="1150" dirty="0"/>
          </a:p>
          <a:p>
            <a:pPr marL="0" indent="0">
              <a:spcBef>
                <a:spcPts val="600"/>
              </a:spcBef>
              <a:buNone/>
            </a:pPr>
            <a:r>
              <a:rPr lang="en-US" sz="1150" b="1" dirty="0">
                <a:solidFill>
                  <a:schemeClr val="tx1"/>
                </a:solidFill>
              </a:rPr>
              <a:t xml:space="preserve">BOUND(node) = value + fractional fill</a:t>
            </a:r>
            <a:endParaRPr lang="en-US" sz="1150" dirty="0"/>
          </a:p>
        </p:txBody>
      </p:sp>
      <p:sp>
        <p:nvSpPr>
          <p:cNvPr id="17" name="Result bar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Result text"/>
          <p:cNvSpPr txBox="1"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Result: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Optimal value = 65  (items 1 and 3, weight 9)     |     9 of 31 nodes visited, 5 pruned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UNIT V – Visualization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Knapsack Branch and Bound</a:t>
            </a:r>
            <a:endParaRPr lang="en-US" sz="1000" dirty="0"/>
          </a:p>
        </p:txBody>
      </p:sp>
      <p:pic>
        <p:nvPicPr>
          <p:cNvPr id="5" name="Image 0" descr="Visualization: Knapsack Branch and B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48705"/>
            <a:ext cx="6263640" cy="2806111"/>
          </a:xfrm>
          <a:prstGeom prst="rect">
            <a:avLst/>
          </a:prstGeom>
        </p:spPr>
      </p:pic>
      <p:sp>
        <p:nvSpPr>
          <p:cNvPr id="6" name="What to notice card"/>
          <p:cNvSpPr/>
          <p:nvPr/>
        </p:nvSpPr>
        <p:spPr>
          <a:xfrm>
            <a:off x="6675120" y="640080"/>
            <a:ext cx="2194560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What to notice accent"/>
          <p:cNvSpPr/>
          <p:nvPr/>
        </p:nvSpPr>
        <p:spPr>
          <a:xfrm>
            <a:off x="6675120" y="640080"/>
            <a:ext cx="54864" cy="402336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What to notice label"/>
          <p:cNvSpPr txBox="1"/>
          <p:nvPr/>
        </p:nvSpPr>
        <p:spPr>
          <a:xfrm>
            <a:off x="6839712" y="6949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What to notice</a:t>
            </a:r>
            <a:endParaRPr lang="en-US" sz="1200" dirty="0"/>
          </a:p>
        </p:txBody>
      </p:sp>
      <p:sp>
        <p:nvSpPr>
          <p:cNvPr id="9" name="Notice text"/>
          <p:cNvSpPr txBox="1"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Red = pruned (infeasible or ub ≤ best)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Blue = expanded node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Gold = optimal node, value 65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best improves 40 → 65, then bounds cut the rest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Complexity Comparison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All five projects</a:t>
            </a:r>
            <a:endParaRPr lang="en-US" sz="1000" dirty="0"/>
          </a:p>
        </p:txBody>
      </p:sp>
      <p:graphicFrame>
        <p:nvGraphicFramePr>
          <p:cNvPr id="14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2103120"/>
                <a:gridCol w="109728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Time complexity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Space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Verified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3 Growth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Growth rates compared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Order 1 &lt; log n &lt; n &lt; n log n &lt; n² &lt; 2ⁿ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2"/>
                          </a:solidFill>
                        </a:rPr>
                        <a:t>6 Merge Pattern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Greedy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Total cost 190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9 Knapsack DP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Dynamic programming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O(n·W)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Value 90, items 2 and 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12 Graph Coloring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Backtracking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O(m^n · n) worst case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O(n)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2 colourings (v1 fixed), 9 pruned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5"/>
                          </a:solidFill>
                        </a:rPr>
                        <a:t>13 Knapsack B&amp;B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Branch &amp; bound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O(2ⁿ) worst, pruned in practice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O(2ⁿ)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Value 65, 5 pruned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akeaway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Greedy and DP avoid blind search; backtracking and branch and bound prune an exponential search tree; asymptotic notation lets us compare all of them on one scale.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09728" cy="5029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45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Learning Outcomes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583680" y="45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0F1"/>
                </a:solidFill>
              </a:rPr>
              <a:t>What we achieved</a:t>
            </a:r>
            <a:endParaRPr lang="en-US" sz="1000" dirty="0"/>
          </a:p>
        </p:txBody>
      </p:sp>
      <p:sp>
        <p:nvSpPr>
          <p:cNvPr id="5" name="Badge UNIT I"/>
          <p:cNvSpPr/>
          <p:nvPr/>
        </p:nvSpPr>
        <p:spPr>
          <a:xfrm>
            <a:off x="365760" y="731520"/>
            <a:ext cx="1188720" cy="640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731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Unit I</a:t>
            </a:r>
            <a:endParaRPr lang="en-US" sz="1300" dirty="0"/>
          </a:p>
        </p:txBody>
      </p:sp>
      <p:sp>
        <p:nvSpPr>
          <p:cNvPr id="7" name="Row UNIT I"/>
          <p:cNvSpPr/>
          <p:nvPr/>
        </p:nvSpPr>
        <p:spPr>
          <a:xfrm>
            <a:off x="1554480" y="731520"/>
            <a:ext cx="7223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7315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Compare algorithms with O, Ω and Θ and rank growth rates</a:t>
            </a:r>
            <a:endParaRPr lang="en-US" sz="1250" dirty="0"/>
          </a:p>
        </p:txBody>
      </p:sp>
      <p:sp>
        <p:nvSpPr>
          <p:cNvPr id="9" name="Badge UNIT II"/>
          <p:cNvSpPr/>
          <p:nvPr/>
        </p:nvSpPr>
        <p:spPr>
          <a:xfrm>
            <a:off x="365760" y="1517904"/>
            <a:ext cx="1188720" cy="6400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5179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Unit II</a:t>
            </a:r>
            <a:endParaRPr lang="en-US" sz="1300" dirty="0"/>
          </a:p>
        </p:txBody>
      </p:sp>
      <p:sp>
        <p:nvSpPr>
          <p:cNvPr id="11" name="Row UNIT II"/>
          <p:cNvSpPr/>
          <p:nvPr/>
        </p:nvSpPr>
        <p:spPr>
          <a:xfrm>
            <a:off x="1554480" y="1517904"/>
            <a:ext cx="7223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7360" y="151790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Build a greedy solution (merge tree) and justify the always-merge-smallest rule</a:t>
            </a:r>
            <a:endParaRPr lang="en-US" sz="1250" dirty="0"/>
          </a:p>
        </p:txBody>
      </p:sp>
      <p:sp>
        <p:nvSpPr>
          <p:cNvPr id="13" name="Badge UNIT III"/>
          <p:cNvSpPr/>
          <p:nvPr/>
        </p:nvSpPr>
        <p:spPr>
          <a:xfrm>
            <a:off x="365760" y="2304288"/>
            <a:ext cx="1188720" cy="640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3042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Unit III</a:t>
            </a:r>
            <a:endParaRPr lang="en-US" sz="1300" dirty="0"/>
          </a:p>
        </p:txBody>
      </p:sp>
      <p:sp>
        <p:nvSpPr>
          <p:cNvPr id="15" name="Row UNIT III"/>
          <p:cNvSpPr/>
          <p:nvPr/>
        </p:nvSpPr>
        <p:spPr>
          <a:xfrm>
            <a:off x="1554480" y="2304288"/>
            <a:ext cx="7223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230428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Define DP states and transitions, fill a table and trace back the chosen items</a:t>
            </a:r>
            <a:endParaRPr lang="en-US" sz="1250" dirty="0"/>
          </a:p>
        </p:txBody>
      </p:sp>
      <p:sp>
        <p:nvSpPr>
          <p:cNvPr id="17" name="Badge UNIT IV"/>
          <p:cNvSpPr/>
          <p:nvPr/>
        </p:nvSpPr>
        <p:spPr>
          <a:xfrm>
            <a:off x="365760" y="3090672"/>
            <a:ext cx="1188720" cy="640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09067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Unit IV</a:t>
            </a:r>
            <a:endParaRPr lang="en-US" sz="1300" dirty="0"/>
          </a:p>
        </p:txBody>
      </p:sp>
      <p:sp>
        <p:nvSpPr>
          <p:cNvPr id="19" name="Row UNIT IV"/>
          <p:cNvSpPr/>
          <p:nvPr/>
        </p:nvSpPr>
        <p:spPr>
          <a:xfrm>
            <a:off x="1554480" y="3090672"/>
            <a:ext cx="7223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37360" y="30906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 backtracking with constraint checks, and prune dead branches</a:t>
            </a:r>
            <a:endParaRPr lang="en-US" sz="1250" dirty="0"/>
          </a:p>
        </p:txBody>
      </p:sp>
      <p:sp>
        <p:nvSpPr>
          <p:cNvPr id="21" name="Badge UNIT V"/>
          <p:cNvSpPr/>
          <p:nvPr/>
        </p:nvSpPr>
        <p:spPr>
          <a:xfrm>
            <a:off x="365760" y="3877056"/>
            <a:ext cx="1188720" cy="64008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87705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Unit V</a:t>
            </a:r>
            <a:endParaRPr lang="en-US" sz="1300" dirty="0"/>
          </a:p>
        </p:txBody>
      </p:sp>
      <p:sp>
        <p:nvSpPr>
          <p:cNvPr id="23" name="Row UNIT V"/>
          <p:cNvSpPr/>
          <p:nvPr/>
        </p:nvSpPr>
        <p:spPr>
          <a:xfrm>
            <a:off x="1554480" y="3877056"/>
            <a:ext cx="72237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387705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Apply bounding functions to prune a branch-and-bound tree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3891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B400"/>
                </a:solidFill>
              </a:rPr>
              <a:t>Thank You</a:t>
            </a:r>
            <a:endParaRPr lang="en-US" sz="3800" dirty="0"/>
          </a:p>
        </p:txBody>
      </p:sp>
      <p:sp>
        <p:nvSpPr>
          <p:cNvPr id="4" name="Conclusion points"/>
          <p:cNvSpPr txBox="1"/>
          <p:nvPr/>
        </p:nvSpPr>
        <p:spPr>
          <a:xfrm>
            <a:off x="640080" y="132588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One representative algorithm per DAA unit, implemented, run and verified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Every visualization matches its code output (190, 90, 2 solutions, 65)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Repository: pseudocode, AI prompts, visualizations and READMEs for each project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A Macro">
  <a:themeElements>
    <a:clrScheme name="DAA Macro">
      <a:dk1>
        <a:srgbClr val="1B2733"/>
      </a:dk1>
      <a:lt1>
        <a:srgbClr val="FFFFFF"/>
      </a:lt1>
      <a:dk2>
        <a:srgbClr val="1F4E79"/>
      </a:dk2>
      <a:lt2>
        <a:srgbClr val="F3F6FA"/>
      </a:lt2>
      <a:accent1>
        <a:srgbClr val="1F77B4"/>
      </a:accent1>
      <a:accent2>
        <a:srgbClr val="2E8B57"/>
      </a:accent2>
      <a:accent3>
        <a:srgbClr val="8E44AD"/>
      </a:accent3>
      <a:accent4>
        <a:srgbClr val="C0392B"/>
      </a:accent4>
      <a:accent5>
        <a:srgbClr val="E67E00"/>
      </a:accent5>
      <a:accent6>
        <a:srgbClr val="F1B800"/>
      </a:accent6>
      <a:hlink>
        <a:srgbClr val="1F77B4"/>
      </a:hlink>
      <a:folHlink>
        <a:srgbClr val="8E44AD"/>
      </a:folHlink>
    </a:clrScheme>
    <a:fontScheme name="DAA Mac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 – Group 3</dc:title>
  <dc:subject>PptxGenJS Presentation</dc:subject>
  <dc:creator>PptxGenJS</dc:creator>
  <cp:lastModifiedBy>PptxGenJS</cp:lastModifiedBy>
  <cp:revision>1</cp:revision>
  <dcterms:created xsi:type="dcterms:W3CDTF">2026-10-05T10:15:31Z</dcterms:created>
  <dcterms:modified xsi:type="dcterms:W3CDTF">2026-10-05T10:15:31Z</dcterms:modified>
</cp:coreProperties>
</file>